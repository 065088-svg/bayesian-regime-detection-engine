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Log-likelihood improves with more states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Log-likelihood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k=3</c:v>
                  </c:pt>
                  <c:pt idx="1">
                    <c:v>k=5</c:v>
                  </c:pt>
                  <c:pt idx="2">
                    <c:v>k=7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9252.3</c:v>
                </c:pt>
                <c:pt idx="1">
                  <c:v>9253.3</c:v>
                </c:pt>
                <c:pt idx="2">
                  <c:v>10897.7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Ensemble member weights (independent label)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BMA weight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HMM</c:v>
                  </c:pt>
                  <c:pt idx="1">
                    <c:v>MC-Dropout</c:v>
                  </c:pt>
                  <c:pt idx="2">
                    <c:v>DeepEnsemble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Stacking weight</c:v>
                </c:pt>
              </c:strCache>
            </c:strRef>
          </c:tx>
          <c:spPr>
            <a:solidFill>
              <a:srgbClr val="C9A85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HMM</c:v>
                  </c:pt>
                  <c:pt idx="1">
                    <c:v>MC-Dropout</c:v>
                  </c:pt>
                  <c:pt idx="2">
                    <c:v>DeepEnsemble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0.137</c:v>
                </c:pt>
                <c:pt idx="1">
                  <c:v>0.442</c:v>
                </c:pt>
                <c:pt idx="2">
                  <c:v>0.421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EEEE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WAIC-proxy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BMA</c:v>
                  </c:pt>
                  <c:pt idx="1">
                    <c:v>Stack</c:v>
                  </c:pt>
                  <c:pt idx="2">
                    <c:v>MC-Dropout</c:v>
                  </c:pt>
                  <c:pt idx="3">
                    <c:v>DeepEnsemble</c:v>
                  </c:pt>
                  <c:pt idx="4">
                    <c:v>HMM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986.1</c:v>
                </c:pt>
                <c:pt idx="1">
                  <c:v>1288.7</c:v>
                </c:pt>
                <c:pt idx="2">
                  <c:v>1986.1</c:v>
                </c:pt>
                <c:pt idx="3">
                  <c:v>7119.4</c:v>
                </c:pt>
                <c:pt idx="4">
                  <c:v>12735.9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EEE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Bayesian Regime Detection Engine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Equity Direction Forecasting  |  Zetheta Algorithms Financial Data Analyst Assessment  |  Core Build, 10 Sept 2026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Regime-conditioned HMM + Bayesian deep learning + conformal prediction,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ensembled into a real-time monitoring layer for Indian equities.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CADCF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states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Risk-On to Risk-Off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383280" y="12801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4173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28600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families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HMM → BDL → VAR → Conformal → MC → Ensemble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4173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90.9%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28600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conformal coverage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(target 90%)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052560" y="12801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052560" y="14173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0.107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228600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 on independent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label, real data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47472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working core build, not the full 6-deliverable submission. </a:t>
            </a:r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engine, R codebase, validation pack, and this report all run end-to-end and produce real numbers. Not built: 18-slide deck video, live foundation models, real market data feed. See Slide 18 for the full honest gap list.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Regime Detection, Not Price Prediction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equity markets don't move randomly — they cycle through persistent behavioral regimes </a:t>
            </a:r>
            <a:pPr indent="0" marL="0">
              <a:buNone/>
            </a:pPr>
            <a:r>
              <a:rPr lang="en-US" sz="15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(risk-on rallies, late-cycle euphoria, transitional chop, post-shock drawdowns, risk-off flight).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6400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(which regime we're in) is more learnable than magnitude (exact price)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FII/DII flows, SIP behavior, and volatility structure all shift discretely by regime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allocation-tilt overlay only needs the regime call + a calibrated confidence — not a point forecast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0" y="1371600"/>
            <a:ext cx="4297680" cy="4572000"/>
          </a:xfrm>
          <a:prstGeom prst="roundRect">
            <a:avLst>
              <a:gd name="adj" fmla="val 1702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0" y="16459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bet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2194560"/>
            <a:ext cx="37490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well-calibrated P(regime) is more decision-useful to an investment committee than an uncalibrated point forecast of next week's Nifty level.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Five-State Regime Taxonomy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34440" y="1371600"/>
            <a:ext cx="914400" cy="914400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Risk-On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Broad-based rally, low VIX, strong FII buying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520440" y="1371600"/>
            <a:ext cx="914400" cy="914400"/>
          </a:xfrm>
          <a:prstGeom prst="ellipse">
            <a:avLst/>
          </a:prstGeom>
          <a:solidFill>
            <a:srgbClr val="7EC8E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83464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Late-Cycle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292608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gains, narrowing breadth, valuation stretch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914400" cy="914400"/>
          </a:xfrm>
          <a:prstGeom prst="ellipse">
            <a:avLst/>
          </a:prstGeom>
          <a:solidFill>
            <a:srgbClr val="E3B2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12064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292608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Choppy, directionless, elevated vol-of-vol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92440" y="1371600"/>
            <a:ext cx="914400" cy="914400"/>
          </a:xfrm>
          <a:prstGeom prst="ellipse">
            <a:avLst/>
          </a:prstGeom>
          <a:solidFill>
            <a:srgbClr val="E35D5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0664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Post-Shock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292608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drawdown just occurred, DII stepping in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0378440" y="1371600"/>
            <a:ext cx="914400" cy="914400"/>
          </a:xfrm>
          <a:prstGeom prst="ellipse">
            <a:avLst/>
          </a:prstGeom>
          <a:solidFill>
            <a:srgbClr val="8A4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69264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Risk-Off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784080" y="292608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de-risking, FII outflows, INR under pressure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labels are assigned post-hoc by ranking fitted HMM states on mean return — the label order is stable across refits even though raw state indices are arbitrary.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2377440"/>
            <a:ext cx="1508760" cy="137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3774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(real Nifty prices)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2377440"/>
            <a:ext cx="15544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103120" y="2377440"/>
            <a:ext cx="1508760" cy="1371600"/>
          </a:xfrm>
          <a:prstGeom prst="roundRect">
            <a:avLst>
              <a:gd name="adj" fmla="val 4000"/>
            </a:avLst>
          </a:prstGeom>
          <a:solidFill>
            <a:srgbClr val="33448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103120" y="23774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(28 signals)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377440"/>
            <a:ext cx="15544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749040" y="2377440"/>
            <a:ext cx="1508760" cy="137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23774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HMM +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HMM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2377440"/>
            <a:ext cx="15544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394960" y="2377440"/>
            <a:ext cx="1508760" cy="1371600"/>
          </a:xfrm>
          <a:prstGeom prst="roundRect">
            <a:avLst>
              <a:gd name="adj" fmla="val 4000"/>
            </a:avLst>
          </a:prstGeom>
          <a:solidFill>
            <a:srgbClr val="33448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94960" y="23774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RS-VAR +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DL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377440"/>
            <a:ext cx="15544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040880" y="2377440"/>
            <a:ext cx="1508760" cy="137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040880" y="23774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(BMA / Stacking)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2377440"/>
            <a:ext cx="15544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0" y="2377440"/>
            <a:ext cx="1508760" cy="1371600"/>
          </a:xfrm>
          <a:prstGeom prst="roundRect">
            <a:avLst>
              <a:gd name="adj" fmla="val 4000"/>
            </a:avLst>
          </a:prstGeom>
          <a:solidFill>
            <a:srgbClr val="33448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0" y="23774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Conformal +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0195560" y="2377440"/>
            <a:ext cx="15544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0332720" y="2377440"/>
            <a:ext cx="1508760" cy="137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332720" y="237744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+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Artefacts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38912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above is real, executed code (see repository map). Foundation-model embeddings (Chronos/TimesFM) are architected as an additional input to the Bayesian DL stage but not wired in — no network path to Hugging Face from this build environment.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Layer — Real Prices, Synthetic Auxiliaries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1188720"/>
          </a:xfrm>
          <a:prstGeom prst="roundRect">
            <a:avLst>
              <a:gd name="adj" fmla="val 3846"/>
            </a:avLst>
          </a:prstGeom>
          <a:solidFill>
            <a:srgbClr val="CADCF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Nifty 50 price series is now REAL market history (2007-2026, spot-checked against the documented record). VIX, FII/DII, INR, and Gilt remain synthetic — no real public source found for these from this sandbox.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11064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Nifty 50 daily close, 2007-09-17 to 2026-04-13 (4,554 trading days) — covers all 4 crisis case studies with actual market history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this file's 2020 Covid-crash closing low is 7,610.25 on 2020-03-23, matching the widely-reported real Nifty low to the rupee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Auxiliary series (VIX, FII/DII, INR, Gilt) remain synthetic but are now regime-conditioned on the REAL price path, not independently simulated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— 28 Signals, Five Families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09728" cy="685800"/>
          </a:xfrm>
          <a:prstGeom prst="rect">
            <a:avLst/>
          </a:prstGeom>
          <a:solidFill>
            <a:srgbClr val="C9A8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 / Trend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3716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1d-252d momentum, MA20/50/200 distance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09728" cy="685800"/>
          </a:xfrm>
          <a:prstGeom prst="rect">
            <a:avLst/>
          </a:prstGeom>
          <a:solidFill>
            <a:srgbClr val="C9A85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24028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vol, vol-of-vol, VIX level/z/term proxy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109728" cy="685800"/>
          </a:xfrm>
          <a:prstGeom prst="rect">
            <a:avLst/>
          </a:prstGeom>
          <a:solidFill>
            <a:srgbClr val="C9A85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10896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Cap-Segment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10896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Mid/small vs large spread, valuation z-score, breadth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109728" cy="685800"/>
          </a:xfrm>
          <a:prstGeom prst="rect">
            <a:avLst/>
          </a:prstGeom>
          <a:solidFill>
            <a:srgbClr val="C9A85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97764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97764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FII/DII z-scores, SIP momentum, flow-balance ratio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846320"/>
            <a:ext cx="109728" cy="685800"/>
          </a:xfrm>
          <a:prstGeom prst="rect">
            <a:avLst/>
          </a:prstGeom>
          <a:solidFill>
            <a:srgbClr val="C9A85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8463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84632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INR momentum, Gilt level/change, real-rate proxy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607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 (persistence landscapes) and sector-GNN embeddings are architecturally stubbed — they need multi-asset correlation tensors / a sector graph this build doesn't have populated.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HMM &amp; Bayesian HMM Methodology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Frequentist HMM (hmmlearn)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394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5-state Gaussian HMM, diagonal covariance, fit by Baum-Welch/EM on 21-day return, 21-day realized vol, and VIX z-score.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 model selection compared k=3, 5, 7 states.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ranked by mean return → stable regime labels.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2801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Bayesian HMM (conjugate posterior)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1737360"/>
            <a:ext cx="5394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specifies PyMC/NUTS (2000 draws, 4 chains) — not installed in this sandbox (see Slide 18).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Substitute: exact Dirichlet posterior on transitions + Normal-Inverse-Gamma posterior on emissions. No MCMC needed — conjugacy is exact.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posterior draws → real 95% credible intervals.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389120"/>
            <a:ext cx="11064240" cy="1463040"/>
          </a:xfrm>
          <a:prstGeom prst="roundRect">
            <a:avLst>
              <a:gd name="adj" fmla="val 3750"/>
            </a:avLst>
          </a:prstGeom>
          <a:solidFill>
            <a:srgbClr val="CADC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38912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95% credible-interval width across all transition-matrix cells: </a:t>
            </a:r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1.16%</a:t>
            </a:r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tight posterior estimates given ~4,300 days of (now real) data.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HMM Results — Model Selection &amp; Transitions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BIC by state count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029200" cy="164592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States (k)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Log-lik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9,252.3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-18,303.7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9,253.3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-18,088.2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10,897.7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-21,092.6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57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Regime durations (avg trading days, fitted 5-state model)</a:t>
            </a:r>
            <a:endParaRPr lang="en-US" sz="14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5029200" cy="237744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</a:tblGrid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Late-Cycle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Transitional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Post-Shock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Risk-Off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0" descr=""/>
          <p:cNvGraphicFramePr/>
          <p:nvPr/>
        </p:nvGraphicFramePr>
        <p:xfrm>
          <a:off x="6035040" y="1280160"/>
          <a:ext cx="55778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3"/>
          <p:cNvSpPr txBox="1"/>
          <p:nvPr/>
        </p:nvSpPr>
        <p:spPr>
          <a:xfrm>
            <a:off x="6035040" y="4206240"/>
            <a:ext cx="5577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Risk-On/Late-Cycle/Transitional all collapse to ~1-day duration on real data — this HMM detects stress regimes (Post-Shock, Risk-Off) well but discriminates calm regimes poorly (see Slide 18).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Regime-Switching VAR &amp; Bayesian Deep Learning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Regime-Switching VAR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394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VAR(1) over 6 variables (return, vol, breadth, FII flow, INR, Gilt), fit separately per HMM-labeled regime.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uncertainty via 100-200 draw residual bootstrap.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FII-outflow shock decays markedly slower in Risk-Off than Risk-On (impulse response).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2801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Bayesian Deep Learning (numpy, no torch)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1737360"/>
            <a:ext cx="5394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MC-Dropout MLP — T=30 stochastic forward passes at inference.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 MLP — mean-field Bayes-by-Backprop weight posteriors.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Ensemble — M=6-10 independently initialized members.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decompose uncertainty into epistemic + aleatoric.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5720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torch/PyMC installs were skipped for sandbox time budget — every model above is hand-rolled from first principles, not a stub.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Conformal Prediction &amp; Sequential Inference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Conformal calibration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394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Split-conformal + Adaptive Prediction Sets (APS), target α=0.10.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Adaptive Conformal Inference (ACI) self-corrects coverage under regime shift.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diagrams + Expected Calibration Error (ECE).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2801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Sequential (online) inference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1737360"/>
            <a:ext cx="5394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particle filter (2,000 particles) tracks regime state in real time.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Online Changepoint Detection (BOCPD) flags regime breaks day-by-day.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filter vs batch HMM: 89.2% agreement on last 500 days.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389120"/>
            <a:ext cx="11064240" cy="1463040"/>
          </a:xfrm>
          <a:prstGeom prst="roundRect">
            <a:avLst>
              <a:gd name="adj" fmla="val 3750"/>
            </a:avLst>
          </a:prstGeom>
          <a:solidFill>
            <a:srgbClr val="FFF4E5"/>
          </a:solidFill>
          <a:ln w="12700">
            <a:solidFill>
              <a:srgbClr val="C9A85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38912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A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flag: split-conformal empirical coverage came in at 86.9% against a 90% target on the primary ensemble path — below nominal, needs investigation before operational use (Slide 18).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Ensembling Design — Fixed: Independent Ground-Truth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463040"/>
            <a:ext cx="53035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this pass: </a:t>
            </a:r>
            <a:pPr indent="0" marL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now train/evaluate against a rules-based label independent of the HMM (21.9% agreement with HMM — confirms independence).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BMA now collapses onto MC-Dropout instead</a:t>
            </a:r>
            <a:endParaRPr lang="en-US" sz="13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(same winner-take-all mechanic as before, different winner — MC-Dropout was trained directly on the label, HMM wasn't).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remains the deployable choice: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 / 44% / 42% — meaningful weight on all three members.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CADCF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the circularity surfaced a more honest calibration number: ECE is 0.107 on real data once evaluated against the independent label (vs 0.058 on synthetic data) — the old setup was masking real miscalibration.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 — Independent-Label WAIC-Style Proxy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110642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120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HMM scores far worse here by construction — it's a fully unsupervised model being scored against a label it never saw, while MC-Dropout/DeepEnsemble were trained directly on it. Not "deep learning beats HMM"; more precisely, "supervised models dominate at reproducing a target they were shown."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Evidence</a:t>
            </a:r>
            <a:endParaRPr lang="en-US" sz="2800" dirty="0"/>
          </a:p>
        </p:txBody>
      </p:sp>
      <p:pic>
        <p:nvPicPr>
          <p:cNvPr id="3" name="Image 0" descr="reliability_diagram_hm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4206240" cy="420624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371600"/>
          <a:ext cx="6400800" cy="2926080"/>
        </p:xfrm>
        <a:graphic>
          <a:graphicData uri="http://schemas.openxmlformats.org/drawingml/2006/table">
            <a:tbl>
              <a:tblPr/>
              <a:tblGrid>
                <a:gridCol w="3840480"/>
                <a:gridCol w="2560320"/>
              </a:tblGrid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 used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BMA (MC-Dropout-weighted)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Empirical coverage (target 90%)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Calibration Error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Avg. conformal set size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split-conformal coverage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212080" y="457200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Python ensemble (now trained on an independent label, not the HMM's own output) still undershoots its 90% coverage target, though less severely than before the fix. The independent R split-conformal classifier exceeds it. This divergence itself is useful diagnostic signal, not just two numbers to average.</a:t>
            </a:r>
            <a:endParaRPr lang="en-US" sz="1250" dirty="0"/>
          </a:p>
        </p:txBody>
      </p:sp>
      <p:sp>
        <p:nvSpPr>
          <p:cNvPr id="6" name="Text 2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Monte Carlo Risk &amp; Allocation-Tilt Backtest (Real Data)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63-day Monte Carlo (3,000 paths)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12080" cy="1463040"/>
          </a:xfrm>
          <a:prstGeom prst="roundRect">
            <a:avLst>
              <a:gd name="adj" fmla="val 3750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VaR: </a:t>
            </a:r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22.8%   </a:t>
            </a:r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CVaR: </a:t>
            </a:r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29.6%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83280"/>
            <a:ext cx="5212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at current (2026-04-13) regime call: Post-Shock — real market conditions at the end of the data's real-price coverage window.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2801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Allocation-tilt overlay vs. buy-and-hold (2019-2024)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737360"/>
          <a:ext cx="5394960" cy="18288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Buy-hold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CAGR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drawdown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Ratio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126480" y="37490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real 2019-2024 data (incl. the actual 2020 crash): the overlay outperforms on both CAGR and drawdown — a positive IR, flipped from negative on the earlier synthetic-data run.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Studies — Scenario Replay on Real Market Data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960120"/>
          </a:xfrm>
          <a:prstGeom prst="roundRect">
            <a:avLst>
              <a:gd name="adj" fmla="val 3810"/>
            </a:avLst>
          </a:prstGeom>
          <a:solidFill>
            <a:srgbClr val="F5F7F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2008 GFC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37160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Post-Shock, 100% of days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291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-25.2% real window P&amp;L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11064240" cy="960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51460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2013 Taper Tantrum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51460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Risk-Off, 74.3% of days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2514600"/>
            <a:ext cx="3291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real window P&amp;L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11064240" cy="960120"/>
          </a:xfrm>
          <a:prstGeom prst="roundRect">
            <a:avLst>
              <a:gd name="adj" fmla="val 3810"/>
            </a:avLst>
          </a:prstGeom>
          <a:solidFill>
            <a:srgbClr val="F5F7F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65760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 Covid Crash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365760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Post-Shock, 100% of days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657600"/>
            <a:ext cx="3291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-17.6% real window P&amp;L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800600"/>
            <a:ext cx="11064240" cy="960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80060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 Election/Budget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480060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Post-Shock, 52.8% of days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4800600"/>
            <a:ext cx="3291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+12.3% real window P&amp;L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9436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episodes now replay against REAL Nifty 50 price history (previously synthetic). 2008 has a result for the first time — the prior synthetic panel started in 2010, after this crisis.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Cross-Language Validation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actually built in 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394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Hand-rolled Gaussian HMM (Baum-Welch/EM, base R)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regression via MCMCpack (Gibbs sampler) + coda diagnostics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Hand-rolled BOCPD (same algorithm as Python)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Hand-rolled split-conformal classifier (multinomial logit)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2801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737360"/>
          <a:ext cx="5394960" cy="2011680"/>
        </p:xfrm>
        <a:graphic>
          <a:graphicData uri="http://schemas.openxmlformats.org/drawingml/2006/table">
            <a:tbl>
              <a:tblPr/>
              <a:tblGrid>
                <a:gridCol w="3566160"/>
                <a:gridCol w="1828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split-conformal coverage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HMM vs Python HMM agreement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2.8% (after fix!)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Geweke diagnostic (MCMCpack)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params within ±2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FFF4E5"/>
          </a:solidFill>
          <a:ln w="12700">
            <a:solidFill>
              <a:srgbClr val="C9A85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6634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sets were aligned this pass (both now use returns+vol+VIX on real data) — agreement got WORSE (25.7%→2.8%). Two independent EM fits found genuinely different local optima on the same features, not just a feature mismatch.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Gap List &amp; Next Steps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RESOLVED: ensemble ground-truth was circular — now independent (rules-based label, real data, 21.9% agreement with HMM)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(mostly): core Nifty price data is now REAL (2007-2026) — auxiliary series (VIX, FII/DII, INR, Gilt) remain synthetic, no real source found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flips real results: HMM converges cleanly, backtest IR flipped positive (+0.071), all 4 case studies now have real P&amp;L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PyMC/NUTS — conjugate posteriors used instead (no R-hat/ESS by construction; R's MCMCpack model does have real diagnostics)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foundation models (Chronos/TimesFM) — no Hugging Face access in this sandbox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feature alignment made R/Python HMM agreement WORSE (25.7%→2.8%) — revealed EM local-optima instability, a deeper issue than feature mismatch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this pass: standalone case-study deep-dive report + git repo committed and submission-ready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built: demo video (full script provided instead), GitHub repo transfer — outside this tool's capability / requires account owner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A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real auxiliary series (VIX/FII/DII/Gilt) to replace the remaining synthetic inputs, then a matched-initialization R/Python HMM reconciliation.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2026-09-15T10:19:25Z</dcterms:created>
  <dcterms:modified xsi:type="dcterms:W3CDTF">2026-09-15T10:19:25Z</dcterms:modified>
</cp:coreProperties>
</file>